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chivo Black" charset="1" panose="020B0A03020202020B04"/>
      <p:regular r:id="rId18"/>
    </p:embeddedFont>
    <p:embeddedFont>
      <p:font typeface="Canva Sans Bold" charset="1" panose="020B0803030501040103"/>
      <p:regular r:id="rId19"/>
    </p:embeddedFont>
    <p:embeddedFont>
      <p:font typeface="Horizon" charset="1" panose="02000500000000000000"/>
      <p:regular r:id="rId20"/>
    </p:embeddedFont>
    <p:embeddedFont>
      <p:font typeface="Canva Sans" charset="1" panose="020B0503030501040103"/>
      <p:regular r:id="rId21"/>
    </p:embeddedFont>
    <p:embeddedFont>
      <p:font typeface="Futura Display" charset="1" panose="020B0504050904050C04"/>
      <p:regular r:id="rId22"/>
    </p:embeddedFont>
    <p:embeddedFont>
      <p:font typeface="Norwester" charset="1" panose="00000506000000000000"/>
      <p:regular r:id="rId23"/>
    </p:embeddedFont>
    <p:embeddedFont>
      <p:font typeface="Mr Dafoe" charset="1" panose="02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6839" y="-925005"/>
            <a:ext cx="18314839" cy="11212005"/>
            <a:chOff x="0" y="0"/>
            <a:chExt cx="24419786" cy="14949340"/>
          </a:xfrm>
        </p:grpSpPr>
        <p:pic>
          <p:nvPicPr>
            <p:cNvPr name="Picture 4" id="4"/>
            <p:cNvPicPr>
              <a:picLocks noChangeAspect="true"/>
            </p:cNvPicPr>
            <p:nvPr/>
          </p:nvPicPr>
          <p:blipFill>
            <a:blip r:embed="rId3"/>
            <a:srcRect l="0" t="93" r="0" b="93"/>
            <a:stretch>
              <a:fillRect/>
            </a:stretch>
          </p:blipFill>
          <p:spPr>
            <a:xfrm flipH="false" flipV="false">
              <a:off x="0" y="0"/>
              <a:ext cx="24419786" cy="14949340"/>
            </a:xfrm>
            <a:prstGeom prst="rect">
              <a:avLst/>
            </a:prstGeom>
          </p:spPr>
        </p:pic>
      </p:grpSp>
      <p:sp>
        <p:nvSpPr>
          <p:cNvPr name="TextBox 5" id="5"/>
          <p:cNvSpPr txBox="true"/>
          <p:nvPr/>
        </p:nvSpPr>
        <p:spPr>
          <a:xfrm rot="0">
            <a:off x="286482" y="813741"/>
            <a:ext cx="8601044" cy="2244411"/>
          </a:xfrm>
          <a:prstGeom prst="rect">
            <a:avLst/>
          </a:prstGeom>
        </p:spPr>
        <p:txBody>
          <a:bodyPr anchor="t" rtlCol="false" tIns="0" lIns="0" bIns="0" rIns="0">
            <a:spAutoFit/>
          </a:bodyPr>
          <a:lstStyle/>
          <a:p>
            <a:pPr algn="ctr">
              <a:lnSpc>
                <a:spcPts val="5967"/>
              </a:lnSpc>
            </a:pPr>
            <a:r>
              <a:rPr lang="en-US" sz="4262">
                <a:solidFill>
                  <a:srgbClr val="000000"/>
                </a:solidFill>
                <a:latin typeface="Archivo Black"/>
                <a:ea typeface="Archivo Black"/>
                <a:cs typeface="Archivo Black"/>
                <a:sym typeface="Archivo Black"/>
              </a:rPr>
              <a:t>“STEP DETECTION &amp; AUTOMATIC BREAK INTERLOCK SYSTEM</a:t>
            </a:r>
            <a:r>
              <a:rPr lang="en-US" sz="4262">
                <a:solidFill>
                  <a:srgbClr val="000000"/>
                </a:solidFill>
                <a:latin typeface="Archivo Black"/>
                <a:ea typeface="Archivo Black"/>
                <a:cs typeface="Archivo Black"/>
                <a:sym typeface="Archivo Black"/>
              </a:rPr>
              <a:t>” </a:t>
            </a:r>
          </a:p>
        </p:txBody>
      </p:sp>
      <p:sp>
        <p:nvSpPr>
          <p:cNvPr name="TextBox 6" id="6"/>
          <p:cNvSpPr txBox="true"/>
          <p:nvPr/>
        </p:nvSpPr>
        <p:spPr>
          <a:xfrm rot="0">
            <a:off x="2144933" y="7051657"/>
            <a:ext cx="3318986" cy="1308098"/>
          </a:xfrm>
          <a:prstGeom prst="rect">
            <a:avLst/>
          </a:prstGeom>
        </p:spPr>
        <p:txBody>
          <a:bodyPr anchor="t" rtlCol="false" tIns="0" lIns="0" bIns="0" rIns="0">
            <a:spAutoFit/>
          </a:bodyPr>
          <a:lstStyle/>
          <a:p>
            <a:pPr algn="ctr">
              <a:lnSpc>
                <a:spcPts val="3500"/>
              </a:lnSpc>
            </a:pPr>
            <a:r>
              <a:rPr lang="en-US" b="true" sz="2500">
                <a:solidFill>
                  <a:srgbClr val="FFFFFF"/>
                </a:solidFill>
                <a:latin typeface="Canva Sans Bold"/>
                <a:ea typeface="Canva Sans Bold"/>
                <a:cs typeface="Canva Sans Bold"/>
                <a:sym typeface="Canva Sans Bold"/>
              </a:rPr>
              <a:t>KAVIARASU. R</a:t>
            </a:r>
          </a:p>
          <a:p>
            <a:pPr algn="ctr">
              <a:lnSpc>
                <a:spcPts val="3500"/>
              </a:lnSpc>
            </a:pPr>
            <a:r>
              <a:rPr lang="en-US" b="true" sz="2500">
                <a:solidFill>
                  <a:srgbClr val="FFFFFF"/>
                </a:solidFill>
                <a:latin typeface="Canva Sans Bold"/>
                <a:ea typeface="Canva Sans Bold"/>
                <a:cs typeface="Canva Sans Bold"/>
                <a:sym typeface="Canva Sans Bold"/>
              </a:rPr>
              <a:t>MUTHUSAMY.M</a:t>
            </a:r>
          </a:p>
          <a:p>
            <a:pPr algn="ctr">
              <a:lnSpc>
                <a:spcPts val="3500"/>
              </a:lnSpc>
            </a:pPr>
            <a:r>
              <a:rPr lang="en-US" b="true" sz="2500">
                <a:solidFill>
                  <a:srgbClr val="FFFFFF"/>
                </a:solidFill>
                <a:latin typeface="Canva Sans Bold"/>
                <a:ea typeface="Canva Sans Bold"/>
                <a:cs typeface="Canva Sans Bold"/>
                <a:sym typeface="Canva Sans Bold"/>
              </a:rPr>
              <a:t>VASANTHAKUMAR. G</a:t>
            </a:r>
          </a:p>
        </p:txBody>
      </p:sp>
      <p:sp>
        <p:nvSpPr>
          <p:cNvPr name="TextBox 7" id="7"/>
          <p:cNvSpPr txBox="true"/>
          <p:nvPr/>
        </p:nvSpPr>
        <p:spPr>
          <a:xfrm rot="0">
            <a:off x="486201" y="6304683"/>
            <a:ext cx="3318225" cy="481996"/>
          </a:xfrm>
          <a:prstGeom prst="rect">
            <a:avLst/>
          </a:prstGeom>
        </p:spPr>
        <p:txBody>
          <a:bodyPr anchor="t" rtlCol="false" tIns="0" lIns="0" bIns="0" rIns="0">
            <a:spAutoFit/>
          </a:bodyPr>
          <a:lstStyle/>
          <a:p>
            <a:pPr algn="ctr">
              <a:lnSpc>
                <a:spcPts val="3905"/>
              </a:lnSpc>
            </a:pPr>
            <a:r>
              <a:rPr lang="en-US" sz="2789" b="true">
                <a:solidFill>
                  <a:srgbClr val="FFFFFF"/>
                </a:solidFill>
                <a:latin typeface="Canva Sans Bold"/>
                <a:ea typeface="Canva Sans Bold"/>
                <a:cs typeface="Canva Sans Bold"/>
                <a:sym typeface="Canva Sans Bold"/>
              </a:rPr>
              <a:t>PRESENTED BY:</a:t>
            </a:r>
          </a:p>
        </p:txBody>
      </p:sp>
      <p:sp>
        <p:nvSpPr>
          <p:cNvPr name="TextBox 8" id="8"/>
          <p:cNvSpPr txBox="true"/>
          <p:nvPr/>
        </p:nvSpPr>
        <p:spPr>
          <a:xfrm rot="0">
            <a:off x="8883335" y="7761890"/>
            <a:ext cx="6023729" cy="789303"/>
          </a:xfrm>
          <a:prstGeom prst="rect">
            <a:avLst/>
          </a:prstGeom>
        </p:spPr>
        <p:txBody>
          <a:bodyPr anchor="t" rtlCol="false" tIns="0" lIns="0" bIns="0" rIns="0">
            <a:spAutoFit/>
          </a:bodyPr>
          <a:lstStyle/>
          <a:p>
            <a:pPr algn="ctr">
              <a:lnSpc>
                <a:spcPts val="3220"/>
              </a:lnSpc>
            </a:pPr>
            <a:r>
              <a:rPr lang="en-US" sz="2300" b="true">
                <a:solidFill>
                  <a:srgbClr val="FFFFFF"/>
                </a:solidFill>
                <a:latin typeface="Canva Sans Bold"/>
                <a:ea typeface="Canva Sans Bold"/>
                <a:cs typeface="Canva Sans Bold"/>
                <a:sym typeface="Canva Sans Bold"/>
              </a:rPr>
              <a:t>GUIDEED BY:</a:t>
            </a:r>
          </a:p>
          <a:p>
            <a:pPr algn="ctr">
              <a:lnSpc>
                <a:spcPts val="3220"/>
              </a:lnSpc>
            </a:pPr>
            <a:r>
              <a:rPr lang="en-US" sz="2300" b="true">
                <a:solidFill>
                  <a:srgbClr val="FFFFFF"/>
                </a:solidFill>
                <a:latin typeface="Canva Sans Bold"/>
                <a:ea typeface="Canva Sans Bold"/>
                <a:cs typeface="Canva Sans Bold"/>
                <a:sym typeface="Canva Sans Bold"/>
              </a:rPr>
              <a:t>                                  MRS.P.KOKULASANDHIYA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39238" y="4652327"/>
            <a:ext cx="9525" cy="1811020"/>
          </a:xfrm>
          <a:prstGeom prst="rect">
            <a:avLst/>
          </a:prstGeom>
        </p:spPr>
        <p:txBody>
          <a:bodyPr anchor="t" rtlCol="false" tIns="0" lIns="0" bIns="0" rIns="0">
            <a:spAutoFit/>
          </a:bodyPr>
          <a:lstStyle/>
          <a:p>
            <a:pPr algn="ctr">
              <a:lnSpc>
                <a:spcPts val="7279"/>
              </a:lnSpc>
            </a:pPr>
          </a:p>
          <a:p>
            <a:pPr algn="ctr">
              <a:lnSpc>
                <a:spcPts val="7279"/>
              </a:lnSpc>
            </a:pPr>
          </a:p>
        </p:txBody>
      </p:sp>
      <p:sp>
        <p:nvSpPr>
          <p:cNvPr name="Freeform 3" id="3"/>
          <p:cNvSpPr/>
          <p:nvPr/>
        </p:nvSpPr>
        <p:spPr>
          <a:xfrm flipH="false" flipV="false" rot="0">
            <a:off x="-567374" y="-255058"/>
            <a:ext cx="20314408" cy="11747247"/>
          </a:xfrm>
          <a:custGeom>
            <a:avLst/>
            <a:gdLst/>
            <a:ahLst/>
            <a:cxnLst/>
            <a:rect r="r" b="b" t="t" l="l"/>
            <a:pathLst>
              <a:path h="11747247" w="20314408">
                <a:moveTo>
                  <a:pt x="0" y="0"/>
                </a:moveTo>
                <a:lnTo>
                  <a:pt x="20314408" y="0"/>
                </a:lnTo>
                <a:lnTo>
                  <a:pt x="20314408" y="11747247"/>
                </a:lnTo>
                <a:lnTo>
                  <a:pt x="0" y="11747247"/>
                </a:lnTo>
                <a:lnTo>
                  <a:pt x="0" y="0"/>
                </a:lnTo>
                <a:close/>
              </a:path>
            </a:pathLst>
          </a:custGeom>
          <a:blipFill>
            <a:blip r:embed="rId2">
              <a:alphaModFix amt="27000"/>
            </a:blip>
            <a:stretch>
              <a:fillRect l="0" t="0" r="0" b="-26880"/>
            </a:stretch>
          </a:blipFill>
        </p:spPr>
      </p:sp>
      <p:sp>
        <p:nvSpPr>
          <p:cNvPr name="TextBox 4" id="4"/>
          <p:cNvSpPr txBox="true"/>
          <p:nvPr/>
        </p:nvSpPr>
        <p:spPr>
          <a:xfrm rot="0">
            <a:off x="37400" y="746936"/>
            <a:ext cx="6721316" cy="1019490"/>
          </a:xfrm>
          <a:prstGeom prst="rect">
            <a:avLst/>
          </a:prstGeom>
        </p:spPr>
        <p:txBody>
          <a:bodyPr anchor="t" rtlCol="false" tIns="0" lIns="0" bIns="0" rIns="0">
            <a:spAutoFit/>
          </a:bodyPr>
          <a:lstStyle/>
          <a:p>
            <a:pPr algn="ctr">
              <a:lnSpc>
                <a:spcPts val="8382"/>
              </a:lnSpc>
            </a:pPr>
            <a:r>
              <a:rPr lang="en-US" sz="5987" b="true">
                <a:solidFill>
                  <a:srgbClr val="000000"/>
                </a:solidFill>
                <a:latin typeface="Canva Sans Bold"/>
                <a:ea typeface="Canva Sans Bold"/>
                <a:cs typeface="Canva Sans Bold"/>
                <a:sym typeface="Canva Sans Bold"/>
              </a:rPr>
              <a:t>“</a:t>
            </a:r>
            <a:r>
              <a:rPr lang="en-US" b="true" sz="5987" u="sng">
                <a:solidFill>
                  <a:srgbClr val="000000"/>
                </a:solidFill>
                <a:latin typeface="Canva Sans Bold"/>
                <a:ea typeface="Canva Sans Bold"/>
                <a:cs typeface="Canva Sans Bold"/>
                <a:sym typeface="Canva Sans Bold"/>
              </a:rPr>
              <a:t>INTRODUCTION</a:t>
            </a:r>
            <a:r>
              <a:rPr lang="en-US" sz="5987" b="true">
                <a:solidFill>
                  <a:srgbClr val="000000"/>
                </a:solidFill>
                <a:latin typeface="Canva Sans Bold"/>
                <a:ea typeface="Canva Sans Bold"/>
                <a:cs typeface="Canva Sans Bold"/>
                <a:sym typeface="Canva Sans Bold"/>
              </a:rPr>
              <a:t>”</a:t>
            </a:r>
          </a:p>
        </p:txBody>
      </p:sp>
      <p:sp>
        <p:nvSpPr>
          <p:cNvPr name="TextBox 5" id="5"/>
          <p:cNvSpPr txBox="true"/>
          <p:nvPr/>
        </p:nvSpPr>
        <p:spPr>
          <a:xfrm rot="0">
            <a:off x="287082" y="2589093"/>
            <a:ext cx="18000918" cy="7026273"/>
          </a:xfrm>
          <a:prstGeom prst="rect">
            <a:avLst/>
          </a:prstGeom>
        </p:spPr>
        <p:txBody>
          <a:bodyPr anchor="t" rtlCol="false" tIns="0" lIns="0" bIns="0" rIns="0">
            <a:spAutoFit/>
          </a:bodyPr>
          <a:lstStyle/>
          <a:p>
            <a:pPr algn="ctr">
              <a:lnSpc>
                <a:spcPts val="7000"/>
              </a:lnSpc>
            </a:pPr>
            <a:r>
              <a:rPr lang="en-US" b="true" sz="4000">
                <a:solidFill>
                  <a:srgbClr val="000000"/>
                </a:solidFill>
                <a:latin typeface="Canva Sans Bold"/>
                <a:ea typeface="Canva Sans Bold"/>
                <a:cs typeface="Canva Sans Bold"/>
                <a:sym typeface="Canva Sans Bold"/>
              </a:rPr>
              <a:t>Every year, many accidents occur while passengers are getting on or off buses and other public transport vehicles. One common reason is that the vehicle starts moving before the entry step or footboard is safely retracted. This can lead to serious injuries and even loss of life. To overcome this problem, we propose a Step Detection and Automatic Brake Interlock System, which ensures that the vehicle cannot move unless the step is fully closed. The main objective of this system is to improve passenger safety using simple sensors and automatic control.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48977" y="512155"/>
            <a:ext cx="13182600" cy="6819146"/>
          </a:xfrm>
          <a:prstGeom prst="rect">
            <a:avLst/>
          </a:prstGeom>
        </p:spPr>
        <p:txBody>
          <a:bodyPr anchor="t" rtlCol="false" tIns="0" lIns="0" bIns="0" rIns="0">
            <a:spAutoFit/>
          </a:bodyPr>
          <a:lstStyle/>
          <a:p>
            <a:pPr algn="just">
              <a:lnSpc>
                <a:spcPts val="6726"/>
              </a:lnSpc>
              <a:spcBef>
                <a:spcPct val="0"/>
              </a:spcBef>
            </a:pPr>
            <a:r>
              <a:rPr lang="en-US" b="true" sz="4804">
                <a:solidFill>
                  <a:srgbClr val="000000"/>
                </a:solidFill>
                <a:latin typeface="Horizon"/>
                <a:ea typeface="Horizon"/>
                <a:cs typeface="Horizon"/>
                <a:sym typeface="Horizon"/>
              </a:rPr>
              <a:t>“</a:t>
            </a:r>
            <a:r>
              <a:rPr lang="en-US" b="true" sz="4804" u="sng">
                <a:solidFill>
                  <a:srgbClr val="000000"/>
                </a:solidFill>
                <a:latin typeface="Horizon"/>
                <a:ea typeface="Horizon"/>
                <a:cs typeface="Horizon"/>
                <a:sym typeface="Horizon"/>
              </a:rPr>
              <a:t>Objectives</a:t>
            </a:r>
            <a:r>
              <a:rPr lang="en-US" b="true" sz="4804">
                <a:solidFill>
                  <a:srgbClr val="000000"/>
                </a:solidFill>
                <a:latin typeface="Horizon"/>
                <a:ea typeface="Horizon"/>
                <a:cs typeface="Horizon"/>
                <a:sym typeface="Horizon"/>
              </a:rPr>
              <a:t>”</a:t>
            </a:r>
          </a:p>
          <a:p>
            <a:pPr algn="ctr">
              <a:lnSpc>
                <a:spcPts val="5886"/>
              </a:lnSpc>
              <a:spcBef>
                <a:spcPct val="0"/>
              </a:spcBef>
            </a:pPr>
          </a:p>
          <a:p>
            <a:pPr algn="l">
              <a:lnSpc>
                <a:spcPts val="5886"/>
              </a:lnSpc>
            </a:pPr>
          </a:p>
          <a:p>
            <a:pPr algn="l" marL="756666" indent="-378333" lvl="1">
              <a:lnSpc>
                <a:spcPts val="4906"/>
              </a:lnSpc>
              <a:buFont typeface="Arial"/>
              <a:buChar char="•"/>
            </a:pPr>
            <a:r>
              <a:rPr lang="en-US" b="true" sz="3504">
                <a:solidFill>
                  <a:srgbClr val="000000"/>
                </a:solidFill>
                <a:latin typeface="Canva Sans Bold"/>
                <a:ea typeface="Canva Sans Bold"/>
                <a:cs typeface="Canva Sans Bold"/>
                <a:sym typeface="Canva Sans Bold"/>
              </a:rPr>
              <a:t>Prevent bus movement while passengers are on the steps</a:t>
            </a:r>
          </a:p>
          <a:p>
            <a:pPr algn="l">
              <a:lnSpc>
                <a:spcPts val="5746"/>
              </a:lnSpc>
            </a:pPr>
          </a:p>
          <a:p>
            <a:pPr algn="l" marL="756666" indent="-378333" lvl="1">
              <a:lnSpc>
                <a:spcPts val="4906"/>
              </a:lnSpc>
              <a:buFont typeface="Arial"/>
              <a:buChar char="•"/>
            </a:pPr>
            <a:r>
              <a:rPr lang="en-US" b="true" sz="3504">
                <a:solidFill>
                  <a:srgbClr val="000000"/>
                </a:solidFill>
                <a:latin typeface="Canva Sans Bold"/>
                <a:ea typeface="Canva Sans Bold"/>
                <a:cs typeface="Canva Sans Bold"/>
                <a:sym typeface="Canva Sans Bold"/>
              </a:rPr>
              <a:t>Improve passenger safety.</a:t>
            </a:r>
          </a:p>
          <a:p>
            <a:pPr algn="l">
              <a:lnSpc>
                <a:spcPts val="4906"/>
              </a:lnSpc>
            </a:pPr>
          </a:p>
          <a:p>
            <a:pPr algn="l" marL="756666" indent="-378333" lvl="1">
              <a:lnSpc>
                <a:spcPts val="4906"/>
              </a:lnSpc>
              <a:buFont typeface="Arial"/>
              <a:buChar char="•"/>
            </a:pPr>
            <a:r>
              <a:rPr lang="en-US" b="true" sz="3504">
                <a:solidFill>
                  <a:srgbClr val="000000"/>
                </a:solidFill>
                <a:latin typeface="Canva Sans Bold"/>
                <a:ea typeface="Canva Sans Bold"/>
                <a:cs typeface="Canva Sans Bold"/>
                <a:sym typeface="Canva Sans Bold"/>
              </a:rPr>
              <a:t>Reduce accidents during boarding and alighting.</a:t>
            </a:r>
          </a:p>
          <a:p>
            <a:pPr algn="l">
              <a:lnSpc>
                <a:spcPts val="4906"/>
              </a:lnSpc>
            </a:pPr>
          </a:p>
          <a:p>
            <a:pPr algn="l" marL="756666" indent="-378333" lvl="1">
              <a:lnSpc>
                <a:spcPts val="4906"/>
              </a:lnSpc>
              <a:buFont typeface="Arial"/>
              <a:buChar char="•"/>
            </a:pPr>
            <a:r>
              <a:rPr lang="en-US" b="true" sz="3504">
                <a:solidFill>
                  <a:srgbClr val="000000"/>
                </a:solidFill>
                <a:latin typeface="Canva Sans Bold"/>
                <a:ea typeface="Canva Sans Bold"/>
                <a:cs typeface="Canva Sans Bold"/>
                <a:sym typeface="Canva Sans Bold"/>
              </a:rPr>
              <a:t>Develop a low-cost prototype using Arduino.</a:t>
            </a:r>
          </a:p>
        </p:txBody>
      </p:sp>
      <p:sp>
        <p:nvSpPr>
          <p:cNvPr name="Freeform 3" id="3"/>
          <p:cNvSpPr/>
          <p:nvPr/>
        </p:nvSpPr>
        <p:spPr>
          <a:xfrm flipH="false" flipV="false" rot="0">
            <a:off x="-1178369" y="0"/>
            <a:ext cx="18748665" cy="10607898"/>
          </a:xfrm>
          <a:custGeom>
            <a:avLst/>
            <a:gdLst/>
            <a:ahLst/>
            <a:cxnLst/>
            <a:rect r="r" b="b" t="t" l="l"/>
            <a:pathLst>
              <a:path h="10607898" w="18748665">
                <a:moveTo>
                  <a:pt x="0" y="0"/>
                </a:moveTo>
                <a:lnTo>
                  <a:pt x="18748665" y="0"/>
                </a:lnTo>
                <a:lnTo>
                  <a:pt x="18748665" y="10607898"/>
                </a:lnTo>
                <a:lnTo>
                  <a:pt x="0" y="10607898"/>
                </a:lnTo>
                <a:lnTo>
                  <a:pt x="0" y="0"/>
                </a:lnTo>
                <a:close/>
              </a:path>
            </a:pathLst>
          </a:custGeom>
          <a:blipFill>
            <a:blip r:embed="rId2">
              <a:alphaModFix amt="27000"/>
            </a:blip>
            <a:stretch>
              <a:fillRect l="-4709" t="-9017" r="-14338" b="-9017"/>
            </a:stretch>
          </a:blipFill>
        </p:spPr>
      </p:sp>
      <p:sp>
        <p:nvSpPr>
          <p:cNvPr name="TextBox 4" id="4"/>
          <p:cNvSpPr txBox="true"/>
          <p:nvPr/>
        </p:nvSpPr>
        <p:spPr>
          <a:xfrm rot="0">
            <a:off x="861896" y="7980781"/>
            <a:ext cx="12340471" cy="563879"/>
          </a:xfrm>
          <a:prstGeom prst="rect">
            <a:avLst/>
          </a:prstGeom>
        </p:spPr>
        <p:txBody>
          <a:bodyPr anchor="t" rtlCol="false" tIns="0" lIns="0" bIns="0" rIns="0">
            <a:spAutoFit/>
          </a:bodyPr>
          <a:lstStyle/>
          <a:p>
            <a:pPr algn="r" marL="712480" indent="-356240" lvl="1">
              <a:lnSpc>
                <a:spcPts val="4620"/>
              </a:lnSpc>
              <a:buFont typeface="Arial"/>
              <a:buChar char="•"/>
            </a:pPr>
            <a:r>
              <a:rPr lang="en-US" b="true" sz="3300">
                <a:solidFill>
                  <a:srgbClr val="000000"/>
                </a:solidFill>
                <a:latin typeface="Canva Sans Bold"/>
                <a:ea typeface="Canva Sans Bold"/>
                <a:cs typeface="Canva Sans Bold"/>
                <a:sym typeface="Canva Sans Bold"/>
              </a:rPr>
              <a:t>Design a smart passenger safety system for public buses.</a:t>
            </a:r>
          </a:p>
        </p:txBody>
      </p:sp>
      <p:sp>
        <p:nvSpPr>
          <p:cNvPr name="TextBox 5" id="5"/>
          <p:cNvSpPr txBox="true"/>
          <p:nvPr/>
        </p:nvSpPr>
        <p:spPr>
          <a:xfrm rot="0">
            <a:off x="867738" y="8860760"/>
            <a:ext cx="11896845" cy="563879"/>
          </a:xfrm>
          <a:prstGeom prst="rect">
            <a:avLst/>
          </a:prstGeom>
        </p:spPr>
        <p:txBody>
          <a:bodyPr anchor="t" rtlCol="false" tIns="0" lIns="0" bIns="0" rIns="0">
            <a:spAutoFit/>
          </a:bodyPr>
          <a:lstStyle/>
          <a:p>
            <a:pPr algn="r" marL="712480" indent="-356240" lvl="1">
              <a:lnSpc>
                <a:spcPts val="4620"/>
              </a:lnSpc>
              <a:buFont typeface="Arial"/>
              <a:buChar char="•"/>
            </a:pPr>
            <a:r>
              <a:rPr lang="en-US" b="true" sz="3300">
                <a:solidFill>
                  <a:srgbClr val="000000"/>
                </a:solidFill>
                <a:latin typeface="Canva Sans Bold"/>
                <a:ea typeface="Canva Sans Bold"/>
                <a:cs typeface="Canva Sans Bold"/>
                <a:sym typeface="Canva Sans Bold"/>
              </a:rPr>
              <a:t>Reduce accidents caused by premature bus movement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9708" y="398824"/>
            <a:ext cx="17506690" cy="9023985"/>
          </a:xfrm>
          <a:prstGeom prst="rect">
            <a:avLst/>
          </a:prstGeom>
        </p:spPr>
        <p:txBody>
          <a:bodyPr anchor="t" rtlCol="false" tIns="0" lIns="0" bIns="0" rIns="0">
            <a:spAutoFit/>
          </a:bodyPr>
          <a:lstStyle/>
          <a:p>
            <a:pPr algn="ctr">
              <a:lnSpc>
                <a:spcPts val="7139"/>
              </a:lnSpc>
              <a:spcBef>
                <a:spcPct val="0"/>
              </a:spcBef>
            </a:pPr>
            <a:r>
              <a:rPr lang="en-US" b="true" sz="5100">
                <a:solidFill>
                  <a:srgbClr val="000000"/>
                </a:solidFill>
                <a:latin typeface="Canva Sans Bold"/>
                <a:ea typeface="Canva Sans Bold"/>
                <a:cs typeface="Canva Sans Bold"/>
                <a:sym typeface="Canva Sans Bold"/>
              </a:rPr>
              <a:t>“</a:t>
            </a:r>
            <a:r>
              <a:rPr lang="en-US" b="true" sz="5100" u="sng">
                <a:solidFill>
                  <a:srgbClr val="000000"/>
                </a:solidFill>
                <a:latin typeface="Canva Sans Bold"/>
                <a:ea typeface="Canva Sans Bold"/>
                <a:cs typeface="Canva Sans Bold"/>
                <a:sym typeface="Canva Sans Bold"/>
              </a:rPr>
              <a:t>Components</a:t>
            </a:r>
            <a:r>
              <a:rPr lang="en-US" b="true" sz="5100">
                <a:solidFill>
                  <a:srgbClr val="000000"/>
                </a:solidFill>
                <a:latin typeface="Canva Sans Bold"/>
                <a:ea typeface="Canva Sans Bold"/>
                <a:cs typeface="Canva Sans Bold"/>
                <a:sym typeface="Canva Sans Bold"/>
              </a:rPr>
              <a:t>”</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Arduino Uno</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IR Sensor</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Pressure Sensor (FSR)</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Relay Module</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DC Motor</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Buzzer</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16×2 LCD Display</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Power Supply</a:t>
            </a:r>
          </a:p>
          <a:p>
            <a:pPr algn="l" marL="1101090" indent="-550545" lvl="1">
              <a:lnSpc>
                <a:spcPts val="7139"/>
              </a:lnSpc>
              <a:buFont typeface="Arial"/>
              <a:buChar char="•"/>
            </a:pPr>
            <a:r>
              <a:rPr lang="en-US" b="true" sz="5100">
                <a:solidFill>
                  <a:srgbClr val="000000"/>
                </a:solidFill>
                <a:latin typeface="Canva Sans Bold"/>
                <a:ea typeface="Canva Sans Bold"/>
                <a:cs typeface="Canva Sans Bold"/>
                <a:sym typeface="Canva Sans Bold"/>
              </a:rPr>
              <a:t>Connecting Wires</a:t>
            </a:r>
          </a:p>
        </p:txBody>
      </p:sp>
      <p:sp>
        <p:nvSpPr>
          <p:cNvPr name="Freeform 3" id="3"/>
          <p:cNvSpPr/>
          <p:nvPr/>
        </p:nvSpPr>
        <p:spPr>
          <a:xfrm flipH="false" flipV="false" rot="0">
            <a:off x="8680420" y="1743693"/>
            <a:ext cx="4097752" cy="4097752"/>
          </a:xfrm>
          <a:custGeom>
            <a:avLst/>
            <a:gdLst/>
            <a:ahLst/>
            <a:cxnLst/>
            <a:rect r="r" b="b" t="t" l="l"/>
            <a:pathLst>
              <a:path h="4097752" w="4097752">
                <a:moveTo>
                  <a:pt x="0" y="0"/>
                </a:moveTo>
                <a:lnTo>
                  <a:pt x="4097751" y="0"/>
                </a:lnTo>
                <a:lnTo>
                  <a:pt x="4097751" y="4097752"/>
                </a:lnTo>
                <a:lnTo>
                  <a:pt x="0" y="4097752"/>
                </a:lnTo>
                <a:lnTo>
                  <a:pt x="0" y="0"/>
                </a:lnTo>
                <a:close/>
              </a:path>
            </a:pathLst>
          </a:custGeom>
          <a:blipFill>
            <a:blip r:embed="rId2"/>
            <a:stretch>
              <a:fillRect l="0" t="0" r="0" b="0"/>
            </a:stretch>
          </a:blipFill>
        </p:spPr>
      </p:sp>
      <p:sp>
        <p:nvSpPr>
          <p:cNvPr name="Freeform 4" id="4"/>
          <p:cNvSpPr/>
          <p:nvPr/>
        </p:nvSpPr>
        <p:spPr>
          <a:xfrm flipH="false" flipV="false" rot="0">
            <a:off x="9332831" y="7383932"/>
            <a:ext cx="5625724" cy="1656101"/>
          </a:xfrm>
          <a:custGeom>
            <a:avLst/>
            <a:gdLst/>
            <a:ahLst/>
            <a:cxnLst/>
            <a:rect r="r" b="b" t="t" l="l"/>
            <a:pathLst>
              <a:path h="1656101" w="5625724">
                <a:moveTo>
                  <a:pt x="0" y="0"/>
                </a:moveTo>
                <a:lnTo>
                  <a:pt x="5625724" y="0"/>
                </a:lnTo>
                <a:lnTo>
                  <a:pt x="5625724" y="1656101"/>
                </a:lnTo>
                <a:lnTo>
                  <a:pt x="0" y="1656101"/>
                </a:lnTo>
                <a:lnTo>
                  <a:pt x="0" y="0"/>
                </a:lnTo>
                <a:close/>
              </a:path>
            </a:pathLst>
          </a:custGeom>
          <a:blipFill>
            <a:blip r:embed="rId3"/>
            <a:stretch>
              <a:fillRect l="0" t="-119325" r="0" b="-120371"/>
            </a:stretch>
          </a:blipFill>
        </p:spPr>
      </p:sp>
      <p:sp>
        <p:nvSpPr>
          <p:cNvPr name="Freeform 5" id="5"/>
          <p:cNvSpPr/>
          <p:nvPr/>
        </p:nvSpPr>
        <p:spPr>
          <a:xfrm flipH="false" flipV="false" rot="0">
            <a:off x="12749596" y="1743693"/>
            <a:ext cx="4786872" cy="4863861"/>
          </a:xfrm>
          <a:custGeom>
            <a:avLst/>
            <a:gdLst/>
            <a:ahLst/>
            <a:cxnLst/>
            <a:rect r="r" b="b" t="t" l="l"/>
            <a:pathLst>
              <a:path h="4863861" w="4786872">
                <a:moveTo>
                  <a:pt x="0" y="0"/>
                </a:moveTo>
                <a:lnTo>
                  <a:pt x="4786872" y="0"/>
                </a:lnTo>
                <a:lnTo>
                  <a:pt x="4786872" y="4863861"/>
                </a:lnTo>
                <a:lnTo>
                  <a:pt x="0" y="4863861"/>
                </a:lnTo>
                <a:lnTo>
                  <a:pt x="0" y="0"/>
                </a:lnTo>
                <a:close/>
              </a:path>
            </a:pathLst>
          </a:custGeom>
          <a:blipFill>
            <a:blip r:embed="rId4"/>
            <a:stretch>
              <a:fillRect l="-1330" t="0" r="-9478" b="-5561"/>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23700" y="217902"/>
            <a:ext cx="17723280" cy="8861618"/>
          </a:xfrm>
          <a:prstGeom prst="rect">
            <a:avLst/>
          </a:prstGeom>
        </p:spPr>
        <p:txBody>
          <a:bodyPr anchor="t" rtlCol="false" tIns="0" lIns="0" bIns="0" rIns="0">
            <a:spAutoFit/>
          </a:bodyPr>
          <a:lstStyle/>
          <a:p>
            <a:pPr algn="l">
              <a:lnSpc>
                <a:spcPts val="6954"/>
              </a:lnSpc>
            </a:pPr>
            <a:r>
              <a:rPr lang="en-US" sz="4967" b="true">
                <a:solidFill>
                  <a:srgbClr val="1C1427"/>
                </a:solidFill>
                <a:latin typeface="Canva Sans Bold"/>
                <a:ea typeface="Canva Sans Bold"/>
                <a:cs typeface="Canva Sans Bold"/>
                <a:sym typeface="Canva Sans Bold"/>
              </a:rPr>
              <a:t>                                                     “</a:t>
            </a:r>
            <a:r>
              <a:rPr lang="en-US" b="true" sz="4967" u="sng">
                <a:solidFill>
                  <a:srgbClr val="1C1427"/>
                </a:solidFill>
                <a:latin typeface="Canva Sans Bold"/>
                <a:ea typeface="Canva Sans Bold"/>
                <a:cs typeface="Canva Sans Bold"/>
                <a:sym typeface="Canva Sans Bold"/>
              </a:rPr>
              <a:t>working principle</a:t>
            </a:r>
            <a:r>
              <a:rPr lang="en-US" sz="4967" b="true">
                <a:solidFill>
                  <a:srgbClr val="1C1427"/>
                </a:solidFill>
                <a:latin typeface="Canva Sans Bold"/>
                <a:ea typeface="Canva Sans Bold"/>
                <a:cs typeface="Canva Sans Bold"/>
                <a:sym typeface="Canva Sans Bold"/>
              </a:rPr>
              <a:t> ”</a:t>
            </a:r>
          </a:p>
          <a:p>
            <a:pPr algn="l" marL="813383" indent="-406692" lvl="1">
              <a:lnSpc>
                <a:spcPts val="5274"/>
              </a:lnSpc>
              <a:buFont typeface="Arial"/>
              <a:buChar char="•"/>
            </a:pPr>
            <a:r>
              <a:rPr lang="en-US" b="true" sz="3767">
                <a:solidFill>
                  <a:srgbClr val="1C1427"/>
                </a:solidFill>
                <a:latin typeface="Canva Sans Bold"/>
                <a:ea typeface="Canva Sans Bold"/>
                <a:cs typeface="Canva Sans Bold"/>
                <a:sym typeface="Canva Sans Bold"/>
              </a:rPr>
              <a:t>The IR and pressure sensors detect a passenger on the bus step.</a:t>
            </a:r>
          </a:p>
          <a:p>
            <a:pPr algn="l" marL="813383" indent="-406692" lvl="1">
              <a:lnSpc>
                <a:spcPts val="5274"/>
              </a:lnSpc>
              <a:buFont typeface="Arial"/>
              <a:buChar char="•"/>
            </a:pPr>
            <a:r>
              <a:rPr lang="en-US" b="true" sz="3767">
                <a:solidFill>
                  <a:srgbClr val="1C1427"/>
                </a:solidFill>
                <a:latin typeface="Canva Sans Bold"/>
                <a:ea typeface="Canva Sans Bold"/>
                <a:cs typeface="Canva Sans Bold"/>
                <a:sym typeface="Canva Sans Bold"/>
              </a:rPr>
              <a:t>Arduino processes the sensor signals.</a:t>
            </a:r>
          </a:p>
          <a:p>
            <a:pPr algn="l" marL="813383" indent="-406692" lvl="1">
              <a:lnSpc>
                <a:spcPts val="5274"/>
              </a:lnSpc>
              <a:buFont typeface="Arial"/>
              <a:buChar char="•"/>
            </a:pPr>
            <a:r>
              <a:rPr lang="en-US" b="true" sz="3767">
                <a:solidFill>
                  <a:srgbClr val="1C1427"/>
                </a:solidFill>
                <a:latin typeface="Canva Sans Bold"/>
                <a:ea typeface="Canva Sans Bold"/>
                <a:cs typeface="Canva Sans Bold"/>
                <a:sym typeface="Canva Sans Bold"/>
              </a:rPr>
              <a:t>If a passenger is detected, the relay keeps the</a:t>
            </a:r>
          </a:p>
          <a:p>
            <a:pPr algn="l">
              <a:lnSpc>
                <a:spcPts val="5274"/>
              </a:lnSpc>
            </a:pPr>
            <a:r>
              <a:rPr lang="en-US" b="true" sz="3767">
                <a:solidFill>
                  <a:srgbClr val="1C1427"/>
                </a:solidFill>
                <a:latin typeface="Canva Sans Bold"/>
                <a:ea typeface="Canva Sans Bold"/>
                <a:cs typeface="Canva Sans Bold"/>
                <a:sym typeface="Canva Sans Bold"/>
              </a:rPr>
              <a:t>        brake engaged (or stops the motor in the</a:t>
            </a:r>
          </a:p>
          <a:p>
            <a:pPr algn="l">
              <a:lnSpc>
                <a:spcPts val="5274"/>
              </a:lnSpc>
            </a:pPr>
            <a:r>
              <a:rPr lang="en-US" b="true" sz="3767">
                <a:solidFill>
                  <a:srgbClr val="1C1427"/>
                </a:solidFill>
                <a:latin typeface="Canva Sans Bold"/>
                <a:ea typeface="Canva Sans Bold"/>
                <a:cs typeface="Canva Sans Bold"/>
                <a:sym typeface="Canva Sans Bold"/>
              </a:rPr>
              <a:t>        prototype).</a:t>
            </a:r>
          </a:p>
          <a:p>
            <a:pPr algn="l">
              <a:lnSpc>
                <a:spcPts val="5274"/>
              </a:lnSpc>
            </a:pPr>
          </a:p>
          <a:p>
            <a:pPr algn="l">
              <a:lnSpc>
                <a:spcPts val="5274"/>
              </a:lnSpc>
            </a:pPr>
          </a:p>
          <a:p>
            <a:pPr algn="l" marL="813383" indent="-406692" lvl="1">
              <a:lnSpc>
                <a:spcPts val="5274"/>
              </a:lnSpc>
              <a:buFont typeface="Arial"/>
              <a:buChar char="•"/>
            </a:pPr>
            <a:r>
              <a:rPr lang="en-US" b="true" sz="3767">
                <a:solidFill>
                  <a:srgbClr val="1C1427"/>
                </a:solidFill>
                <a:latin typeface="Canva Sans Bold"/>
                <a:ea typeface="Canva Sans Bold"/>
                <a:cs typeface="Canva Sans Bold"/>
                <a:sym typeface="Canva Sans Bold"/>
              </a:rPr>
              <a:t>The buzzer sounds and the LCD displays a</a:t>
            </a:r>
          </a:p>
          <a:p>
            <a:pPr algn="l">
              <a:lnSpc>
                <a:spcPts val="5274"/>
              </a:lnSpc>
            </a:pPr>
            <a:r>
              <a:rPr lang="en-US" b="true" sz="3767">
                <a:solidFill>
                  <a:srgbClr val="1C1427"/>
                </a:solidFill>
                <a:latin typeface="Canva Sans Bold"/>
                <a:ea typeface="Canva Sans Bold"/>
                <a:cs typeface="Canva Sans Bold"/>
                <a:sym typeface="Canva Sans Bold"/>
              </a:rPr>
              <a:t>         warning message.</a:t>
            </a:r>
          </a:p>
          <a:p>
            <a:pPr algn="l" marL="813383" indent="-406692" lvl="1">
              <a:lnSpc>
                <a:spcPts val="5274"/>
              </a:lnSpc>
              <a:buFont typeface="Arial"/>
              <a:buChar char="•"/>
            </a:pPr>
            <a:r>
              <a:rPr lang="en-US" b="true" sz="3767">
                <a:solidFill>
                  <a:srgbClr val="1C1427"/>
                </a:solidFill>
                <a:latin typeface="Canva Sans Bold"/>
                <a:ea typeface="Canva Sans Bold"/>
                <a:cs typeface="Canva Sans Bold"/>
                <a:sym typeface="Canva Sans Bold"/>
              </a:rPr>
              <a:t>After the passenger has boarded or exited and</a:t>
            </a:r>
          </a:p>
          <a:p>
            <a:pPr algn="l" marL="813383" indent="-406692" lvl="1">
              <a:lnSpc>
                <a:spcPts val="5274"/>
              </a:lnSpc>
              <a:buFont typeface="Arial"/>
              <a:buChar char="•"/>
            </a:pPr>
            <a:r>
              <a:rPr lang="en-US" b="true" sz="3767">
                <a:solidFill>
                  <a:srgbClr val="1C1427"/>
                </a:solidFill>
                <a:latin typeface="Canva Sans Bold"/>
                <a:ea typeface="Canva Sans Bold"/>
                <a:cs typeface="Canva Sans Bold"/>
                <a:sym typeface="Canva Sans Bold"/>
              </a:rPr>
              <a:t> the step is clear, the relay releases and the bus</a:t>
            </a:r>
          </a:p>
          <a:p>
            <a:pPr algn="l" marL="813383" indent="-406692" lvl="1">
              <a:lnSpc>
                <a:spcPts val="5274"/>
              </a:lnSpc>
              <a:buFont typeface="Arial"/>
              <a:buChar char="•"/>
            </a:pPr>
            <a:r>
              <a:rPr lang="en-US" b="true" sz="3767">
                <a:solidFill>
                  <a:srgbClr val="1C1427"/>
                </a:solidFill>
                <a:latin typeface="Canva Sans Bold"/>
                <a:ea typeface="Canva Sans Bold"/>
                <a:cs typeface="Canva Sans Bold"/>
                <a:sym typeface="Canva Sans Bold"/>
              </a:rPr>
              <a:t> can move.</a:t>
            </a:r>
          </a:p>
        </p:txBody>
      </p:sp>
      <p:sp>
        <p:nvSpPr>
          <p:cNvPr name="Freeform 3" id="3"/>
          <p:cNvSpPr/>
          <p:nvPr/>
        </p:nvSpPr>
        <p:spPr>
          <a:xfrm flipH="false" flipV="false" rot="0">
            <a:off x="12732217" y="2280625"/>
            <a:ext cx="4363104" cy="6537187"/>
          </a:xfrm>
          <a:custGeom>
            <a:avLst/>
            <a:gdLst/>
            <a:ahLst/>
            <a:cxnLst/>
            <a:rect r="r" b="b" t="t" l="l"/>
            <a:pathLst>
              <a:path h="6537187" w="4363104">
                <a:moveTo>
                  <a:pt x="0" y="0"/>
                </a:moveTo>
                <a:lnTo>
                  <a:pt x="4363104" y="0"/>
                </a:lnTo>
                <a:lnTo>
                  <a:pt x="4363104" y="6537187"/>
                </a:lnTo>
                <a:lnTo>
                  <a:pt x="0" y="6537187"/>
                </a:lnTo>
                <a:lnTo>
                  <a:pt x="0" y="0"/>
                </a:lnTo>
                <a:close/>
              </a:path>
            </a:pathLst>
          </a:custGeom>
          <a:blipFill>
            <a:blip r:embed="rId2"/>
            <a:stretch>
              <a:fillRect l="-7811" t="0" r="-7420" b="-9645"/>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3401" y="1855216"/>
            <a:ext cx="17694116" cy="5647691"/>
          </a:xfrm>
          <a:prstGeom prst="rect">
            <a:avLst/>
          </a:prstGeom>
        </p:spPr>
        <p:txBody>
          <a:bodyPr anchor="t" rtlCol="false" tIns="0" lIns="0" bIns="0" rIns="0">
            <a:spAutoFit/>
          </a:bodyPr>
          <a:lstStyle/>
          <a:p>
            <a:pPr algn="ctr">
              <a:lnSpc>
                <a:spcPts val="6859"/>
              </a:lnSpc>
              <a:spcBef>
                <a:spcPct val="0"/>
              </a:spcBef>
            </a:pPr>
            <a:r>
              <a:rPr lang="en-US" sz="4899">
                <a:solidFill>
                  <a:srgbClr val="000000"/>
                </a:solidFill>
                <a:latin typeface="Canva Sans"/>
                <a:ea typeface="Canva Sans"/>
                <a:cs typeface="Canva Sans"/>
                <a:sym typeface="Canva Sans"/>
              </a:rPr>
              <a:t>“</a:t>
            </a:r>
            <a:r>
              <a:rPr lang="en-US" sz="4899" u="sng">
                <a:solidFill>
                  <a:srgbClr val="000000"/>
                </a:solidFill>
                <a:latin typeface="Canva Sans"/>
                <a:ea typeface="Canva Sans"/>
                <a:cs typeface="Canva Sans"/>
                <a:sym typeface="Canva Sans"/>
              </a:rPr>
              <a:t>OPERATION</a:t>
            </a:r>
            <a:r>
              <a:rPr lang="en-US" sz="4899">
                <a:solidFill>
                  <a:srgbClr val="000000"/>
                </a:solidFill>
                <a:latin typeface="Canva Sans"/>
                <a:ea typeface="Canva Sans"/>
                <a:cs typeface="Canva Sans"/>
                <a:sym typeface="Canva Sans"/>
              </a:rPr>
              <a:t>”</a:t>
            </a:r>
          </a:p>
          <a:p>
            <a:pPr algn="ctr">
              <a:lnSpc>
                <a:spcPts val="4759"/>
              </a:lnSpc>
              <a:spcBef>
                <a:spcPct val="0"/>
              </a:spcBef>
            </a:pPr>
          </a:p>
          <a:p>
            <a:pPr algn="ctr">
              <a:lnSpc>
                <a:spcPts val="4759"/>
              </a:lnSpc>
              <a:spcBef>
                <a:spcPct val="0"/>
              </a:spcBef>
            </a:pP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Passenger on step → IR sensor and pressure sensor detect occupancy.</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Arduino receives the signals.</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Relay remains energized to keep the brake engaged (or stop the prototype motor).</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LCD displays "Passenger on Step".</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Buzzer alerts the driver.</a:t>
            </a:r>
          </a:p>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When the step is clear, the Arduino deactivates the relay and the bus can move.</a:t>
            </a:r>
          </a:p>
        </p:txBody>
      </p:sp>
      <p:sp>
        <p:nvSpPr>
          <p:cNvPr name="Freeform 3" id="3"/>
          <p:cNvSpPr/>
          <p:nvPr/>
        </p:nvSpPr>
        <p:spPr>
          <a:xfrm flipH="false" flipV="false" rot="0">
            <a:off x="-162948" y="-275590"/>
            <a:ext cx="18470356" cy="10730054"/>
          </a:xfrm>
          <a:custGeom>
            <a:avLst/>
            <a:gdLst/>
            <a:ahLst/>
            <a:cxnLst/>
            <a:rect r="r" b="b" t="t" l="l"/>
            <a:pathLst>
              <a:path h="10730054" w="18470356">
                <a:moveTo>
                  <a:pt x="0" y="0"/>
                </a:moveTo>
                <a:lnTo>
                  <a:pt x="18470355" y="0"/>
                </a:lnTo>
                <a:lnTo>
                  <a:pt x="18470355" y="10730054"/>
                </a:lnTo>
                <a:lnTo>
                  <a:pt x="0" y="10730054"/>
                </a:lnTo>
                <a:lnTo>
                  <a:pt x="0" y="0"/>
                </a:lnTo>
                <a:close/>
              </a:path>
            </a:pathLst>
          </a:custGeom>
          <a:blipFill>
            <a:blip r:embed="rId2">
              <a:alphaModFix amt="27000"/>
            </a:blip>
            <a:stretch>
              <a:fillRect l="-2003" t="-631" r="-2003"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54546" y="1360669"/>
            <a:ext cx="18936293" cy="7064377"/>
          </a:xfrm>
          <a:prstGeom prst="rect">
            <a:avLst/>
          </a:prstGeom>
        </p:spPr>
        <p:txBody>
          <a:bodyPr anchor="t" rtlCol="false" tIns="0" lIns="0" bIns="0" rIns="0">
            <a:spAutoFit/>
          </a:bodyPr>
          <a:lstStyle/>
          <a:p>
            <a:pPr algn="ctr">
              <a:lnSpc>
                <a:spcPts val="6999"/>
              </a:lnSpc>
              <a:spcBef>
                <a:spcPct val="0"/>
              </a:spcBef>
            </a:pPr>
          </a:p>
          <a:p>
            <a:pPr algn="ctr">
              <a:lnSpc>
                <a:spcPts val="6999"/>
              </a:lnSpc>
              <a:spcBef>
                <a:spcPct val="0"/>
              </a:spcBef>
            </a:pPr>
          </a:p>
          <a:p>
            <a:pPr algn="l">
              <a:lnSpc>
                <a:spcPts val="6999"/>
              </a:lnSpc>
              <a:spcBef>
                <a:spcPct val="0"/>
              </a:spcBef>
            </a:pPr>
            <a:r>
              <a:rPr lang="en-US" sz="4999">
                <a:solidFill>
                  <a:srgbClr val="000000"/>
                </a:solidFill>
                <a:latin typeface="Futura Display"/>
                <a:ea typeface="Futura Display"/>
                <a:cs typeface="Futura Display"/>
                <a:sym typeface="Futura Display"/>
              </a:rPr>
              <a:t> OUR SYSTEM PROVIDES SEVERAL ADVANTAGES:</a:t>
            </a:r>
          </a:p>
          <a:p>
            <a:pPr algn="ctr">
              <a:lnSpc>
                <a:spcPts val="6999"/>
              </a:lnSpc>
              <a:spcBef>
                <a:spcPct val="0"/>
              </a:spcBef>
            </a:pPr>
          </a:p>
          <a:p>
            <a:pPr algn="l" marL="1079479" indent="-539740" lvl="1">
              <a:lnSpc>
                <a:spcPts val="6999"/>
              </a:lnSpc>
              <a:buFont typeface="Arial"/>
              <a:buChar char="•"/>
            </a:pPr>
            <a:r>
              <a:rPr lang="en-US" sz="4999">
                <a:solidFill>
                  <a:srgbClr val="000000"/>
                </a:solidFill>
                <a:latin typeface="Futura Display"/>
                <a:ea typeface="Futura Display"/>
                <a:cs typeface="Futura Display"/>
                <a:sym typeface="Futura Display"/>
              </a:rPr>
              <a:t> IMPROVES PASSENGER SAFETY.</a:t>
            </a:r>
          </a:p>
          <a:p>
            <a:pPr algn="l" marL="1079479" indent="-539740" lvl="1">
              <a:lnSpc>
                <a:spcPts val="6999"/>
              </a:lnSpc>
              <a:spcBef>
                <a:spcPct val="0"/>
              </a:spcBef>
              <a:buFont typeface="Arial"/>
              <a:buChar char="•"/>
            </a:pPr>
            <a:r>
              <a:rPr lang="en-US" sz="4999">
                <a:solidFill>
                  <a:srgbClr val="000000"/>
                </a:solidFill>
                <a:latin typeface="Futura Display"/>
                <a:ea typeface="Futura Display"/>
                <a:cs typeface="Futura Display"/>
                <a:sym typeface="Futura Display"/>
              </a:rPr>
              <a:t>PREVENTS ACCIDENTS CAUSED BY AN OPEN STEP. </a:t>
            </a:r>
          </a:p>
          <a:p>
            <a:pPr algn="l" marL="1079479" indent="-539740" lvl="1">
              <a:lnSpc>
                <a:spcPts val="6999"/>
              </a:lnSpc>
              <a:spcBef>
                <a:spcPct val="0"/>
              </a:spcBef>
              <a:buFont typeface="Arial"/>
              <a:buChar char="•"/>
            </a:pPr>
            <a:r>
              <a:rPr lang="en-US" sz="4999">
                <a:solidFill>
                  <a:srgbClr val="000000"/>
                </a:solidFill>
                <a:latin typeface="Futura Display"/>
                <a:ea typeface="Futura Display"/>
                <a:cs typeface="Futura Display"/>
                <a:sym typeface="Futura Display"/>
              </a:rPr>
              <a:t>REDUCES DEPENDENCE ON HUMAN JUDGMENT. </a:t>
            </a:r>
          </a:p>
          <a:p>
            <a:pPr algn="l" marL="1079479" indent="-539740" lvl="1">
              <a:lnSpc>
                <a:spcPts val="6999"/>
              </a:lnSpc>
              <a:spcBef>
                <a:spcPct val="0"/>
              </a:spcBef>
              <a:buFont typeface="Arial"/>
              <a:buChar char="•"/>
            </a:pPr>
            <a:r>
              <a:rPr lang="en-US" sz="4999">
                <a:solidFill>
                  <a:srgbClr val="000000"/>
                </a:solidFill>
                <a:latin typeface="Futura Display"/>
                <a:ea typeface="Futura Display"/>
                <a:cs typeface="Futura Display"/>
                <a:sym typeface="Futura Display"/>
              </a:rPr>
              <a:t>LOW-COST AND EASY TO IMPLEMENT.</a:t>
            </a:r>
          </a:p>
        </p:txBody>
      </p:sp>
      <p:sp>
        <p:nvSpPr>
          <p:cNvPr name="Freeform 3" id="3"/>
          <p:cNvSpPr/>
          <p:nvPr/>
        </p:nvSpPr>
        <p:spPr>
          <a:xfrm flipH="false" flipV="false" rot="0">
            <a:off x="0" y="0"/>
            <a:ext cx="18363795" cy="10287000"/>
          </a:xfrm>
          <a:custGeom>
            <a:avLst/>
            <a:gdLst/>
            <a:ahLst/>
            <a:cxnLst/>
            <a:rect r="r" b="b" t="t" l="l"/>
            <a:pathLst>
              <a:path h="10287000" w="18363795">
                <a:moveTo>
                  <a:pt x="0" y="0"/>
                </a:moveTo>
                <a:lnTo>
                  <a:pt x="18363795" y="0"/>
                </a:lnTo>
                <a:lnTo>
                  <a:pt x="18363795" y="10287000"/>
                </a:lnTo>
                <a:lnTo>
                  <a:pt x="0" y="10287000"/>
                </a:lnTo>
                <a:lnTo>
                  <a:pt x="0" y="0"/>
                </a:lnTo>
                <a:close/>
              </a:path>
            </a:pathLst>
          </a:custGeom>
          <a:blipFill>
            <a:blip r:embed="rId2">
              <a:alphaModFix amt="27000"/>
            </a:blip>
            <a:stretch>
              <a:fillRect l="-4497" t="0" r="-8072" b="0"/>
            </a:stretch>
          </a:blipFill>
        </p:spPr>
      </p:sp>
      <p:sp>
        <p:nvSpPr>
          <p:cNvPr name="TextBox 4" id="4"/>
          <p:cNvSpPr txBox="true"/>
          <p:nvPr/>
        </p:nvSpPr>
        <p:spPr>
          <a:xfrm rot="0">
            <a:off x="6468536" y="456195"/>
            <a:ext cx="5063847" cy="1009651"/>
          </a:xfrm>
          <a:prstGeom prst="rect">
            <a:avLst/>
          </a:prstGeom>
        </p:spPr>
        <p:txBody>
          <a:bodyPr anchor="t" rtlCol="false" tIns="0" lIns="0" bIns="0" rIns="0">
            <a:spAutoFit/>
          </a:bodyPr>
          <a:lstStyle/>
          <a:p>
            <a:pPr algn="ctr">
              <a:lnSpc>
                <a:spcPts val="8399"/>
              </a:lnSpc>
              <a:spcBef>
                <a:spcPct val="0"/>
              </a:spcBef>
            </a:pPr>
            <a:r>
              <a:rPr lang="en-US" b="true" sz="5999">
                <a:solidFill>
                  <a:srgbClr val="000000"/>
                </a:solidFill>
                <a:latin typeface="Canva Sans Bold"/>
                <a:ea typeface="Canva Sans Bold"/>
                <a:cs typeface="Canva Sans Bold"/>
                <a:sym typeface="Canva Sans Bold"/>
              </a:rPr>
              <a:t>“</a:t>
            </a:r>
            <a:r>
              <a:rPr lang="en-US" b="true" sz="5999" u="sng">
                <a:solidFill>
                  <a:srgbClr val="000000"/>
                </a:solidFill>
                <a:latin typeface="Canva Sans Bold"/>
                <a:ea typeface="Canva Sans Bold"/>
                <a:cs typeface="Canva Sans Bold"/>
                <a:sym typeface="Canva Sans Bold"/>
              </a:rPr>
              <a:t>Advantages</a:t>
            </a:r>
            <a:r>
              <a:rPr lang="en-US" b="true" sz="5999">
                <a:solidFill>
                  <a:srgbClr val="000000"/>
                </a:solidFill>
                <a:latin typeface="Canva Sans Bold"/>
                <a:ea typeface="Canva Sans Bold"/>
                <a:cs typeface="Canva Sans Bold"/>
                <a:sym typeface="Canva Sans Bold"/>
              </a:rPr>
              <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71835"/>
            <a:ext cx="18288000" cy="10758835"/>
          </a:xfrm>
          <a:custGeom>
            <a:avLst/>
            <a:gdLst/>
            <a:ahLst/>
            <a:cxnLst/>
            <a:rect r="r" b="b" t="t" l="l"/>
            <a:pathLst>
              <a:path h="10758835" w="18288000">
                <a:moveTo>
                  <a:pt x="0" y="0"/>
                </a:moveTo>
                <a:lnTo>
                  <a:pt x="18288000" y="0"/>
                </a:lnTo>
                <a:lnTo>
                  <a:pt x="18288000" y="10758835"/>
                </a:lnTo>
                <a:lnTo>
                  <a:pt x="0" y="10758835"/>
                </a:lnTo>
                <a:lnTo>
                  <a:pt x="0" y="0"/>
                </a:lnTo>
                <a:close/>
              </a:path>
            </a:pathLst>
          </a:custGeom>
          <a:blipFill>
            <a:blip r:embed="rId2">
              <a:alphaModFix amt="27000"/>
            </a:blip>
            <a:stretch>
              <a:fillRect l="-6531" t="0" r="-6531" b="0"/>
            </a:stretch>
          </a:blipFill>
        </p:spPr>
      </p:sp>
      <p:sp>
        <p:nvSpPr>
          <p:cNvPr name="TextBox 3" id="3"/>
          <p:cNvSpPr txBox="true"/>
          <p:nvPr/>
        </p:nvSpPr>
        <p:spPr>
          <a:xfrm rot="0">
            <a:off x="669857" y="4089375"/>
            <a:ext cx="15094613" cy="5168925"/>
          </a:xfrm>
          <a:prstGeom prst="rect">
            <a:avLst/>
          </a:prstGeom>
        </p:spPr>
        <p:txBody>
          <a:bodyPr anchor="t" rtlCol="false" tIns="0" lIns="0" bIns="0" rIns="0">
            <a:spAutoFit/>
          </a:bodyPr>
          <a:lstStyle/>
          <a:p>
            <a:pPr algn="l">
              <a:lnSpc>
                <a:spcPts val="12080"/>
              </a:lnSpc>
              <a:spcBef>
                <a:spcPct val="0"/>
              </a:spcBef>
            </a:pPr>
            <a:r>
              <a:rPr lang="en-US" b="true" sz="8629">
                <a:solidFill>
                  <a:srgbClr val="000000"/>
                </a:solidFill>
                <a:latin typeface="Canva Sans Bold"/>
                <a:ea typeface="Canva Sans Bold"/>
                <a:cs typeface="Canva Sans Bold"/>
                <a:sym typeface="Canva Sans Bold"/>
              </a:rPr>
              <a:t>This system can be used in: </a:t>
            </a:r>
          </a:p>
          <a:p>
            <a:pPr algn="l" marL="1117839" indent="-558920" lvl="1">
              <a:lnSpc>
                <a:spcPts val="7248"/>
              </a:lnSpc>
              <a:buFont typeface="Arial"/>
              <a:buChar char="•"/>
            </a:pPr>
            <a:r>
              <a:rPr lang="en-US" b="true" sz="5177">
                <a:solidFill>
                  <a:srgbClr val="000000"/>
                </a:solidFill>
                <a:latin typeface="Canva Sans Bold"/>
                <a:ea typeface="Canva Sans Bold"/>
                <a:cs typeface="Canva Sans Bold"/>
                <a:sym typeface="Canva Sans Bold"/>
              </a:rPr>
              <a:t>Public buses School buses Tourist buses</a:t>
            </a:r>
          </a:p>
          <a:p>
            <a:pPr algn="l" marL="1117839" indent="-558920" lvl="1">
              <a:lnSpc>
                <a:spcPts val="7248"/>
              </a:lnSpc>
              <a:buFont typeface="Arial"/>
              <a:buChar char="•"/>
            </a:pPr>
            <a:r>
              <a:rPr lang="en-US" b="true" sz="5177">
                <a:solidFill>
                  <a:srgbClr val="000000"/>
                </a:solidFill>
                <a:latin typeface="Canva Sans Bold"/>
                <a:ea typeface="Canva Sans Bold"/>
                <a:cs typeface="Canva Sans Bold"/>
                <a:sym typeface="Canva Sans Bold"/>
              </a:rPr>
              <a:t> Ambulances Passenger vans Industrial</a:t>
            </a:r>
          </a:p>
          <a:p>
            <a:pPr algn="l" marL="1117839" indent="-558920" lvl="1">
              <a:lnSpc>
                <a:spcPts val="7248"/>
              </a:lnSpc>
              <a:buFont typeface="Arial"/>
              <a:buChar char="•"/>
            </a:pPr>
            <a:r>
              <a:rPr lang="en-US" b="true" sz="5177">
                <a:solidFill>
                  <a:srgbClr val="000000"/>
                </a:solidFill>
                <a:latin typeface="Canva Sans Bold"/>
                <a:ea typeface="Canva Sans Bold"/>
                <a:cs typeface="Canva Sans Bold"/>
                <a:sym typeface="Canva Sans Bold"/>
              </a:rPr>
              <a:t> transport vehicles It can also be integrated</a:t>
            </a:r>
          </a:p>
          <a:p>
            <a:pPr algn="l" marL="1117839" indent="-558920" lvl="1">
              <a:lnSpc>
                <a:spcPts val="7248"/>
              </a:lnSpc>
              <a:buFont typeface="Arial"/>
              <a:buChar char="•"/>
            </a:pPr>
            <a:r>
              <a:rPr lang="en-US" b="true" sz="5177">
                <a:solidFill>
                  <a:srgbClr val="000000"/>
                </a:solidFill>
                <a:latin typeface="Canva Sans Bold"/>
                <a:ea typeface="Canva Sans Bold"/>
                <a:cs typeface="Canva Sans Bold"/>
                <a:sym typeface="Canva Sans Bold"/>
              </a:rPr>
              <a:t> into modern smart transportation systems.</a:t>
            </a:r>
          </a:p>
        </p:txBody>
      </p:sp>
      <p:sp>
        <p:nvSpPr>
          <p:cNvPr name="TextBox 4" id="4"/>
          <p:cNvSpPr txBox="true"/>
          <p:nvPr/>
        </p:nvSpPr>
        <p:spPr>
          <a:xfrm rot="0">
            <a:off x="5815158" y="1170104"/>
            <a:ext cx="5758339" cy="1094741"/>
          </a:xfrm>
          <a:prstGeom prst="rect">
            <a:avLst/>
          </a:prstGeom>
        </p:spPr>
        <p:txBody>
          <a:bodyPr anchor="t" rtlCol="false" tIns="0" lIns="0" bIns="0" rIns="0">
            <a:spAutoFit/>
          </a:bodyPr>
          <a:lstStyle/>
          <a:p>
            <a:pPr algn="ctr">
              <a:lnSpc>
                <a:spcPts val="8959"/>
              </a:lnSpc>
              <a:spcBef>
                <a:spcPct val="0"/>
              </a:spcBef>
            </a:pPr>
            <a:r>
              <a:rPr lang="en-US" b="true" sz="6399" u="sng">
                <a:solidFill>
                  <a:srgbClr val="000000"/>
                </a:solidFill>
                <a:latin typeface="Canva Sans Bold"/>
                <a:ea typeface="Canva Sans Bold"/>
                <a:cs typeface="Canva Sans Bold"/>
                <a:sym typeface="Canva Sans Bold"/>
              </a:rPr>
              <a:t>“</a:t>
            </a:r>
            <a:r>
              <a:rPr lang="en-US" b="true" sz="6399" u="sng">
                <a:solidFill>
                  <a:srgbClr val="000000"/>
                </a:solidFill>
                <a:latin typeface="Canva Sans Bold"/>
                <a:ea typeface="Canva Sans Bold"/>
                <a:cs typeface="Canva Sans Bold"/>
                <a:sym typeface="Canva Sans Bold"/>
              </a:rPr>
              <a:t>Applications”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0266" y="-143541"/>
            <a:ext cx="17477611" cy="10980781"/>
          </a:xfrm>
          <a:custGeom>
            <a:avLst/>
            <a:gdLst/>
            <a:ahLst/>
            <a:cxnLst/>
            <a:rect r="r" b="b" t="t" l="l"/>
            <a:pathLst>
              <a:path h="10980781" w="17477611">
                <a:moveTo>
                  <a:pt x="0" y="0"/>
                </a:moveTo>
                <a:lnTo>
                  <a:pt x="17477611" y="0"/>
                </a:lnTo>
                <a:lnTo>
                  <a:pt x="17477611" y="10980781"/>
                </a:lnTo>
                <a:lnTo>
                  <a:pt x="0" y="10980781"/>
                </a:lnTo>
                <a:lnTo>
                  <a:pt x="0" y="0"/>
                </a:lnTo>
                <a:close/>
              </a:path>
            </a:pathLst>
          </a:custGeom>
          <a:blipFill>
            <a:blip r:embed="rId2"/>
            <a:stretch>
              <a:fillRect l="-712" t="0" r="-10856"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3541" y="1225563"/>
            <a:ext cx="18144459" cy="8032737"/>
          </a:xfrm>
          <a:prstGeom prst="rect">
            <a:avLst/>
          </a:prstGeom>
        </p:spPr>
        <p:txBody>
          <a:bodyPr anchor="t" rtlCol="false" tIns="0" lIns="0" bIns="0" rIns="0">
            <a:spAutoFit/>
          </a:bodyPr>
          <a:lstStyle/>
          <a:p>
            <a:pPr algn="l">
              <a:lnSpc>
                <a:spcPts val="7140"/>
              </a:lnSpc>
            </a:pPr>
            <a:r>
              <a:rPr lang="en-US" sz="5100">
                <a:solidFill>
                  <a:srgbClr val="000000"/>
                </a:solidFill>
                <a:latin typeface="Norwester"/>
                <a:ea typeface="Norwester"/>
                <a:cs typeface="Norwester"/>
                <a:sym typeface="Norwester"/>
              </a:rPr>
              <a:t>                                         “</a:t>
            </a:r>
            <a:r>
              <a:rPr lang="en-US" sz="5100" u="sng">
                <a:solidFill>
                  <a:srgbClr val="000000"/>
                </a:solidFill>
                <a:latin typeface="Norwester"/>
                <a:ea typeface="Norwester"/>
                <a:cs typeface="Norwester"/>
                <a:sym typeface="Norwester"/>
              </a:rPr>
              <a:t> futuer scope</a:t>
            </a:r>
            <a:r>
              <a:rPr lang="en-US" sz="5100">
                <a:solidFill>
                  <a:srgbClr val="000000"/>
                </a:solidFill>
                <a:latin typeface="Norwester"/>
                <a:ea typeface="Norwester"/>
                <a:cs typeface="Norwester"/>
                <a:sym typeface="Norwester"/>
              </a:rPr>
              <a:t>”</a:t>
            </a:r>
          </a:p>
          <a:p>
            <a:pPr algn="ctr">
              <a:lnSpc>
                <a:spcPts val="7140"/>
              </a:lnSpc>
              <a:spcBef>
                <a:spcPct val="0"/>
              </a:spcBef>
            </a:pPr>
          </a:p>
          <a:p>
            <a:pPr algn="ctr">
              <a:lnSpc>
                <a:spcPts val="6160"/>
              </a:lnSpc>
              <a:spcBef>
                <a:spcPct val="0"/>
              </a:spcBef>
            </a:pPr>
            <a:r>
              <a:rPr lang="en-US" sz="4400">
                <a:solidFill>
                  <a:srgbClr val="000000"/>
                </a:solidFill>
                <a:latin typeface="Norwester"/>
                <a:ea typeface="Norwester"/>
                <a:cs typeface="Norwester"/>
                <a:sym typeface="Norwester"/>
              </a:rPr>
              <a:t>this project can be improved by:</a:t>
            </a:r>
          </a:p>
          <a:p>
            <a:pPr algn="l" marL="950074" indent="-475037" lvl="1">
              <a:lnSpc>
                <a:spcPts val="6160"/>
              </a:lnSpc>
              <a:buFont typeface="Arial"/>
              <a:buChar char="•"/>
            </a:pPr>
            <a:r>
              <a:rPr lang="en-US" sz="4400">
                <a:solidFill>
                  <a:srgbClr val="000000"/>
                </a:solidFill>
                <a:latin typeface="Norwester"/>
                <a:ea typeface="Norwester"/>
                <a:cs typeface="Norwester"/>
                <a:sym typeface="Norwester"/>
              </a:rPr>
              <a:t> Adding Iot for real-time monitoring.</a:t>
            </a:r>
          </a:p>
          <a:p>
            <a:pPr algn="l" marL="950074" indent="-475037" lvl="1">
              <a:lnSpc>
                <a:spcPts val="6160"/>
              </a:lnSpc>
              <a:buFont typeface="Arial"/>
              <a:buChar char="•"/>
            </a:pPr>
            <a:r>
              <a:rPr lang="en-US" sz="4400">
                <a:solidFill>
                  <a:srgbClr val="000000"/>
                </a:solidFill>
                <a:latin typeface="Norwester"/>
                <a:ea typeface="Norwester"/>
                <a:cs typeface="Norwester"/>
                <a:sym typeface="Norwester"/>
              </a:rPr>
              <a:t> Using GPS to send alerts to transport authorities</a:t>
            </a:r>
          </a:p>
          <a:p>
            <a:pPr algn="l" marL="950074" indent="-475037" lvl="1">
              <a:lnSpc>
                <a:spcPts val="6160"/>
              </a:lnSpc>
              <a:buFont typeface="Arial"/>
              <a:buChar char="•"/>
            </a:pPr>
            <a:r>
              <a:rPr lang="en-US" sz="4400">
                <a:solidFill>
                  <a:srgbClr val="000000"/>
                </a:solidFill>
                <a:latin typeface="Norwester"/>
                <a:ea typeface="Norwester"/>
                <a:cs typeface="Norwester"/>
                <a:sym typeface="Norwester"/>
              </a:rPr>
              <a:t> Integrating AI-based safety monitoring. </a:t>
            </a:r>
          </a:p>
          <a:p>
            <a:pPr algn="l" marL="950074" indent="-475037" lvl="1">
              <a:lnSpc>
                <a:spcPts val="6160"/>
              </a:lnSpc>
              <a:buFont typeface="Arial"/>
              <a:buChar char="•"/>
            </a:pPr>
            <a:r>
              <a:rPr lang="en-US" sz="4400">
                <a:solidFill>
                  <a:srgbClr val="000000"/>
                </a:solidFill>
                <a:latin typeface="Norwester"/>
                <a:ea typeface="Norwester"/>
                <a:cs typeface="Norwester"/>
                <a:sym typeface="Norwester"/>
              </a:rPr>
              <a:t>Using industrial-grade sensors for improved reliability.</a:t>
            </a:r>
          </a:p>
          <a:p>
            <a:pPr algn="l" marL="950074" indent="-475037" lvl="1">
              <a:lnSpc>
                <a:spcPts val="6160"/>
              </a:lnSpc>
              <a:buFont typeface="Arial"/>
              <a:buChar char="•"/>
            </a:pPr>
            <a:r>
              <a:rPr lang="en-US" sz="4400">
                <a:solidFill>
                  <a:srgbClr val="000000"/>
                </a:solidFill>
                <a:latin typeface="Norwester"/>
                <a:ea typeface="Norwester"/>
                <a:cs typeface="Norwester"/>
                <a:sym typeface="Norwester"/>
              </a:rPr>
              <a:t> Connecting the system with the vehicle's ECU for advanced control.</a:t>
            </a:r>
          </a:p>
          <a:p>
            <a:pPr algn="l">
              <a:lnSpc>
                <a:spcPts val="6160"/>
              </a:lnSpc>
            </a:pPr>
            <a:r>
              <a:rPr lang="en-US" sz="4400">
                <a:solidFill>
                  <a:srgbClr val="000000"/>
                </a:solidFill>
                <a:latin typeface="Norwester"/>
                <a:ea typeface="Norwester"/>
                <a:cs typeface="Norwester"/>
                <a:sym typeface="Norwester"/>
              </a:rPr>
              <a:t>           These improvements will make the system more intelligent and suitable for commercial vehicles.</a:t>
            </a:r>
          </a:p>
        </p:txBody>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41000"/>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81320"/>
            <a:ext cx="18288000" cy="10468320"/>
          </a:xfrm>
          <a:custGeom>
            <a:avLst/>
            <a:gdLst/>
            <a:ahLst/>
            <a:cxnLst/>
            <a:rect r="r" b="b" t="t" l="l"/>
            <a:pathLst>
              <a:path h="10468320" w="18288000">
                <a:moveTo>
                  <a:pt x="0" y="0"/>
                </a:moveTo>
                <a:lnTo>
                  <a:pt x="18288000" y="0"/>
                </a:lnTo>
                <a:lnTo>
                  <a:pt x="18288000" y="10468320"/>
                </a:lnTo>
                <a:lnTo>
                  <a:pt x="0" y="10468320"/>
                </a:lnTo>
                <a:lnTo>
                  <a:pt x="0" y="0"/>
                </a:lnTo>
                <a:close/>
              </a:path>
            </a:pathLst>
          </a:custGeom>
          <a:blipFill>
            <a:blip r:embed="rId2">
              <a:alphaModFix amt="50000"/>
            </a:blip>
            <a:stretch>
              <a:fillRect l="0" t="-23200" r="0" b="-1165"/>
            </a:stretch>
          </a:blipFill>
        </p:spPr>
      </p:sp>
      <p:sp>
        <p:nvSpPr>
          <p:cNvPr name="TextBox 3" id="3"/>
          <p:cNvSpPr txBox="true"/>
          <p:nvPr/>
        </p:nvSpPr>
        <p:spPr>
          <a:xfrm rot="0">
            <a:off x="-215311" y="3115119"/>
            <a:ext cx="18288000" cy="1588135"/>
          </a:xfrm>
          <a:prstGeom prst="rect">
            <a:avLst/>
          </a:prstGeom>
        </p:spPr>
        <p:txBody>
          <a:bodyPr anchor="t" rtlCol="false" tIns="0" lIns="0" bIns="0" rIns="0">
            <a:spAutoFit/>
          </a:bodyPr>
          <a:lstStyle/>
          <a:p>
            <a:pPr algn="ctr">
              <a:lnSpc>
                <a:spcPts val="6440"/>
              </a:lnSpc>
              <a:spcBef>
                <a:spcPct val="0"/>
              </a:spcBef>
            </a:pPr>
            <a:r>
              <a:rPr lang="en-US" b="true" sz="4600">
                <a:solidFill>
                  <a:srgbClr val="000000"/>
                </a:solidFill>
                <a:latin typeface="Canva Sans Bold"/>
                <a:ea typeface="Canva Sans Bold"/>
                <a:cs typeface="Canva Sans Bold"/>
                <a:sym typeface="Canva Sans Bold"/>
              </a:rPr>
              <a:t>To conclude, the Step Detection and Automatic Brake Interlock System is an effective safety solution for passenger vehicles.</a:t>
            </a:r>
          </a:p>
        </p:txBody>
      </p:sp>
      <p:sp>
        <p:nvSpPr>
          <p:cNvPr name="TextBox 4" id="4"/>
          <p:cNvSpPr txBox="true"/>
          <p:nvPr/>
        </p:nvSpPr>
        <p:spPr>
          <a:xfrm rot="0">
            <a:off x="574163" y="5247650"/>
            <a:ext cx="16230600" cy="4315459"/>
          </a:xfrm>
          <a:prstGeom prst="rect">
            <a:avLst/>
          </a:prstGeom>
        </p:spPr>
        <p:txBody>
          <a:bodyPr anchor="t" rtlCol="false" tIns="0" lIns="0" bIns="0" rIns="0">
            <a:spAutoFit/>
          </a:bodyPr>
          <a:lstStyle/>
          <a:p>
            <a:pPr algn="l" marL="885195" indent="-442598" lvl="1">
              <a:lnSpc>
                <a:spcPts val="5740"/>
              </a:lnSpc>
              <a:buFont typeface="Arial"/>
              <a:buChar char="•"/>
            </a:pPr>
            <a:r>
              <a:rPr lang="en-US" b="true" sz="4100">
                <a:solidFill>
                  <a:srgbClr val="000000"/>
                </a:solidFill>
                <a:latin typeface="Canva Sans Bold"/>
                <a:ea typeface="Canva Sans Bold"/>
                <a:cs typeface="Canva Sans Bold"/>
                <a:sym typeface="Canva Sans Bold"/>
              </a:rPr>
              <a:t>By combining sensors, a microcontroller, and an automatic brake interlock, the system ensures that the vehicle moves only when the step is safely closed. </a:t>
            </a:r>
          </a:p>
          <a:p>
            <a:pPr algn="l" marL="885195" indent="-442598" lvl="1">
              <a:lnSpc>
                <a:spcPts val="5740"/>
              </a:lnSpc>
              <a:buFont typeface="Arial"/>
              <a:buChar char="•"/>
            </a:pPr>
            <a:r>
              <a:rPr lang="en-US" b="true" sz="4100">
                <a:solidFill>
                  <a:srgbClr val="000000"/>
                </a:solidFill>
                <a:latin typeface="Canva Sans Bold"/>
                <a:ea typeface="Canva Sans Bold"/>
                <a:cs typeface="Canva Sans Bold"/>
                <a:sym typeface="Canva Sans Bold"/>
              </a:rPr>
              <a:t>This reduces accidents, improves passenger safety, and supports safer public transportation.</a:t>
            </a:r>
          </a:p>
          <a:p>
            <a:pPr algn="l" marL="885195" indent="-442598" lvl="1">
              <a:lnSpc>
                <a:spcPts val="5740"/>
              </a:lnSpc>
              <a:buFont typeface="Arial"/>
              <a:buChar char="•"/>
            </a:pPr>
            <a:r>
              <a:rPr lang="en-US" b="true" sz="4100">
                <a:solidFill>
                  <a:srgbClr val="000000"/>
                </a:solidFill>
                <a:latin typeface="Canva Sans Bold"/>
                <a:ea typeface="Canva Sans Bold"/>
                <a:cs typeface="Canva Sans Bold"/>
                <a:sym typeface="Canva Sans Bold"/>
              </a:rPr>
              <a:t> Thank you for your valuable time and attention.</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023599" y="2132659"/>
            <a:ext cx="12058878" cy="5501268"/>
            <a:chOff x="0" y="0"/>
            <a:chExt cx="16078505" cy="7335024"/>
          </a:xfrm>
        </p:grpSpPr>
        <p:sp>
          <p:nvSpPr>
            <p:cNvPr name="TextBox 3" id="3"/>
            <p:cNvSpPr txBox="true"/>
            <p:nvPr/>
          </p:nvSpPr>
          <p:spPr>
            <a:xfrm rot="0">
              <a:off x="0" y="819150"/>
              <a:ext cx="16078505" cy="6515874"/>
            </a:xfrm>
            <a:prstGeom prst="rect">
              <a:avLst/>
            </a:prstGeom>
          </p:spPr>
          <p:txBody>
            <a:bodyPr anchor="t" rtlCol="false" tIns="0" lIns="0" bIns="0" rIns="0">
              <a:spAutoFit/>
            </a:bodyPr>
            <a:lstStyle/>
            <a:p>
              <a:pPr algn="ctr">
                <a:lnSpc>
                  <a:spcPts val="17377"/>
                </a:lnSpc>
              </a:pPr>
              <a:r>
                <a:rPr lang="en-US" sz="21722">
                  <a:solidFill>
                    <a:srgbClr val="1533F4"/>
                  </a:solidFill>
                  <a:latin typeface="Futura Display"/>
                  <a:ea typeface="Futura Display"/>
                  <a:cs typeface="Futura Display"/>
                  <a:sym typeface="Futura Display"/>
                </a:rPr>
                <a:t>THANK YOU SO MUCH!</a:t>
              </a:r>
            </a:p>
          </p:txBody>
        </p:sp>
        <p:sp>
          <p:nvSpPr>
            <p:cNvPr name="TextBox 4" id="4"/>
            <p:cNvSpPr txBox="true"/>
            <p:nvPr/>
          </p:nvSpPr>
          <p:spPr>
            <a:xfrm rot="-135038">
              <a:off x="1386445" y="1259371"/>
              <a:ext cx="13213750" cy="5599001"/>
            </a:xfrm>
            <a:prstGeom prst="rect">
              <a:avLst/>
            </a:prstGeom>
          </p:spPr>
          <p:txBody>
            <a:bodyPr anchor="t" rtlCol="false" tIns="0" lIns="0" bIns="0" rIns="0">
              <a:spAutoFit/>
            </a:bodyPr>
            <a:lstStyle/>
            <a:p>
              <a:pPr algn="ctr">
                <a:lnSpc>
                  <a:spcPts val="14621"/>
                </a:lnSpc>
              </a:pPr>
              <a:r>
                <a:rPr lang="en-US" sz="19495">
                  <a:solidFill>
                    <a:srgbClr val="F6CF00"/>
                  </a:solidFill>
                  <a:latin typeface="Mr Dafoe"/>
                  <a:ea typeface="Mr Dafoe"/>
                  <a:cs typeface="Mr Dafoe"/>
                  <a:sym typeface="Mr Dafoe"/>
                </a:rPr>
                <a:t>thank you so much</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DAHQCLU5zAU</dc:identifier>
  <dcterms:modified xsi:type="dcterms:W3CDTF">2011-08-01T06:04:30Z</dcterms:modified>
  <cp:revision>1</cp:revision>
  <dc:title>STEPDEDECTION&amp;AUTOMATIC BREAK INTERLOCK SYSTEM</dc:title>
</cp:coreProperties>
</file>